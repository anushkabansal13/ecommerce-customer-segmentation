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eeb097317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deeb097317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deeb097317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eeb097317_2_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deeb097317_2_1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deeb097317_2_1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eeb097317_2_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deeb097317_2_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deeb097317_2_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eeb097317_2_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deeb097317_2_9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deeb097317_2_9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eeb097317_2_1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deeb097317_2_12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eeb097317_2_12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eeb097317_2_1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deeb097317_2_19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deeb097317_2_19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eeb097317_2_2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deeb097317_2_2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deeb097317_2_2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eeb097317_2_25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deeb097317_2_25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deeb097317_2_25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eeb097317_2_29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deeb097317_2_29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deeb097317_2_29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-457200" y="731520"/>
            <a:ext cx="3840480" cy="384048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5943600" y="2926080"/>
            <a:ext cx="3474720" cy="3474720"/>
          </a:xfrm>
          <a:prstGeom prst="ellipse">
            <a:avLst/>
          </a:prstGeom>
          <a:solidFill>
            <a:srgbClr val="4FC3F7">
              <a:alpha val="7843"/>
            </a:srgbClr>
          </a:solidFill>
          <a:ln cap="flat" cmpd="sng" w="12700">
            <a:solidFill>
              <a:srgbClr val="4FC3F7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/>
          <p:nvPr/>
        </p:nvSpPr>
        <p:spPr>
          <a:xfrm>
            <a:off x="548640" y="1005840"/>
            <a:ext cx="2377440" cy="320040"/>
          </a:xfrm>
          <a:prstGeom prst="roundRect">
            <a:avLst>
              <a:gd fmla="val 14286" name="adj"/>
            </a:avLst>
          </a:prstGeom>
          <a:solidFill>
            <a:srgbClr val="4FC3F7">
              <a:alpha val="80000"/>
            </a:srgbClr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548640" y="98755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GB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SCIENCE  •  MACHINE LEARNING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548651" y="1508750"/>
            <a:ext cx="8685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GB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E-</a:t>
            </a:r>
            <a:r>
              <a:rPr b="1" i="0" lang="en-GB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Commerce Customer Behavior &amp;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548640" y="219456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4400"/>
              <a:buFont typeface="Calibri"/>
              <a:buNone/>
            </a:pPr>
            <a:r>
              <a:rPr b="1" i="0" lang="en-GB" sz="4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Segmentation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548640" y="292608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0" lang="en-GB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Using RFM Analysis &amp; K-Means Clustering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0" y="4590288"/>
            <a:ext cx="9144000" cy="54864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Dataset: UCI Online Retail  •  </a:t>
            </a:r>
            <a:r>
              <a:rPr b="1" i="0" lang="en-GB" sz="105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541,909 transactions  •  </a:t>
            </a:r>
            <a:r>
              <a:rPr b="0" i="0" lang="en-GB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4,338 customers segmented  •  </a:t>
            </a:r>
            <a:r>
              <a:rPr b="1" i="0" lang="en-GB" sz="105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Tool: Python / scikit-learn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0" y="0"/>
            <a:ext cx="3108960" cy="54864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/>
          <p:nvPr/>
        </p:nvSpPr>
        <p:spPr>
          <a:xfrm>
            <a:off x="182880" y="1645920"/>
            <a:ext cx="2743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GB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GB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182880" y="30175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Calibri"/>
              <a:buNone/>
            </a:pPr>
            <a:r>
              <a:rPr b="0" i="1" lang="en-GB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Why this project?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3383280" y="365760"/>
            <a:ext cx="557784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3383280" y="365760"/>
            <a:ext cx="64008" cy="86868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3520440" y="43891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❌  One-size-fits-all marketing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3520440" y="713232"/>
            <a:ext cx="5303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Businesses blast identical messages to all customers regardless of their behavior or value.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3383280" y="1417320"/>
            <a:ext cx="557784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3383280" y="1417320"/>
            <a:ext cx="64008" cy="86868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3520440" y="149047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❌  Static demographic segmentation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3520440" y="1764792"/>
            <a:ext cx="5303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Traditional age/gender grouping misses how customers actually shop and spend.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3383280" y="2468880"/>
            <a:ext cx="557784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3383280" y="2468880"/>
            <a:ext cx="64008" cy="86868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3520440" y="254203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❌  No retention strategy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3520440" y="2816352"/>
            <a:ext cx="5303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Without segmentation, businesses cannot identify who is about to churn until it's too late.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3383280" y="3520440"/>
            <a:ext cx="5577840" cy="868680"/>
          </a:xfrm>
          <a:prstGeom prst="rect">
            <a:avLst/>
          </a:prstGeom>
          <a:solidFill>
            <a:srgbClr val="1E2761"/>
          </a:solidFill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3383280" y="3520440"/>
            <a:ext cx="64008" cy="86868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3520440" y="359359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Our 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3520440" y="3867912"/>
            <a:ext cx="5303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GB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Use RFM feature engineering + K-Means clustering to automatically discover behavioral segments.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GB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Project Workflow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End-to-end ML pipeline from raw data to business action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274320" y="1051560"/>
            <a:ext cx="1261872" cy="126187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274320" y="109728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274320" y="1536192"/>
            <a:ext cx="12618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274320" y="1920240"/>
            <a:ext cx="1261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541,909 rows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18"/>
          <p:cNvCxnSpPr/>
          <p:nvPr/>
        </p:nvCxnSpPr>
        <p:spPr>
          <a:xfrm>
            <a:off x="1536192" y="1682496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18"/>
          <p:cNvSpPr/>
          <p:nvPr/>
        </p:nvSpPr>
        <p:spPr>
          <a:xfrm>
            <a:off x="1719072" y="1051560"/>
            <a:ext cx="1261872" cy="1261872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1A3A8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1719072" y="109728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1719072" y="1536192"/>
            <a:ext cx="12618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1719072" y="1920240"/>
            <a:ext cx="1261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Remove nulls &amp; returns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18"/>
          <p:cNvCxnSpPr/>
          <p:nvPr/>
        </p:nvCxnSpPr>
        <p:spPr>
          <a:xfrm>
            <a:off x="2980944" y="1682496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18"/>
          <p:cNvSpPr/>
          <p:nvPr/>
        </p:nvSpPr>
        <p:spPr>
          <a:xfrm>
            <a:off x="3163824" y="1051560"/>
            <a:ext cx="1261872" cy="126187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3163824" y="109728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3163824" y="1536192"/>
            <a:ext cx="12618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RFM Features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3163824" y="1920240"/>
            <a:ext cx="1261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Recency · Freq · Monetary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18"/>
          <p:cNvCxnSpPr/>
          <p:nvPr/>
        </p:nvCxnSpPr>
        <p:spPr>
          <a:xfrm>
            <a:off x="4425696" y="1682496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18"/>
          <p:cNvSpPr/>
          <p:nvPr/>
        </p:nvSpPr>
        <p:spPr>
          <a:xfrm>
            <a:off x="4608576" y="1051560"/>
            <a:ext cx="1261872" cy="1261872"/>
          </a:xfrm>
          <a:prstGeom prst="rect">
            <a:avLst/>
          </a:prstGeom>
          <a:solidFill>
            <a:srgbClr val="0277BD"/>
          </a:solidFill>
          <a:ln cap="flat" cmpd="sng" w="12700">
            <a:solidFill>
              <a:srgbClr val="0277B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8"/>
          <p:cNvSpPr/>
          <p:nvPr/>
        </p:nvSpPr>
        <p:spPr>
          <a:xfrm>
            <a:off x="4608576" y="109728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4608576" y="1536192"/>
            <a:ext cx="12618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 &amp; Normalize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4608576" y="1920240"/>
            <a:ext cx="1261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Log + Min-Max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18"/>
          <p:cNvCxnSpPr/>
          <p:nvPr/>
        </p:nvCxnSpPr>
        <p:spPr>
          <a:xfrm>
            <a:off x="5870448" y="1682496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18"/>
          <p:cNvSpPr/>
          <p:nvPr/>
        </p:nvSpPr>
        <p:spPr>
          <a:xfrm>
            <a:off x="6053328" y="1051560"/>
            <a:ext cx="1261872" cy="1261872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6053328" y="109728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053328" y="1536192"/>
            <a:ext cx="12618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K-Means Clustering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6053328" y="1920240"/>
            <a:ext cx="1261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k=4 segments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8"/>
          <p:cNvCxnSpPr/>
          <p:nvPr/>
        </p:nvCxnSpPr>
        <p:spPr>
          <a:xfrm>
            <a:off x="7315200" y="1682496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8"/>
          <p:cNvSpPr/>
          <p:nvPr/>
        </p:nvSpPr>
        <p:spPr>
          <a:xfrm>
            <a:off x="7498080" y="1051560"/>
            <a:ext cx="1261872" cy="1261872"/>
          </a:xfrm>
          <a:prstGeom prst="rect">
            <a:avLst/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7498080" y="1097280"/>
            <a:ext cx="12618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7498080" y="1536192"/>
            <a:ext cx="12618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Insights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7498080" y="1920240"/>
            <a:ext cx="12618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800"/>
              <a:buFont typeface="Calibri"/>
              <a:buNone/>
            </a:pPr>
            <a:r>
              <a:rPr b="0" i="0" lang="en-GB" sz="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Business action per segment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274320" y="2514600"/>
            <a:ext cx="859536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274320" y="251460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C4"/>
              </a:buClr>
              <a:buSzPts val="800"/>
              <a:buFont typeface="Calibri"/>
              <a:buNone/>
            </a:pPr>
            <a:r>
              <a:rPr b="1" i="0" lang="en-GB" sz="800" u="none" cap="none" strike="noStrike">
                <a:solidFill>
                  <a:srgbClr val="8A9BC4"/>
                </a:solidFill>
                <a:latin typeface="Calibri"/>
                <a:ea typeface="Calibri"/>
                <a:cs typeface="Calibri"/>
                <a:sym typeface="Calibri"/>
              </a:rPr>
              <a:t>DATASET STATS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457200" y="2880360"/>
            <a:ext cx="1965960" cy="114300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457200" y="2944368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541,909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457200" y="352044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Raw Transactions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2606040" y="2880360"/>
            <a:ext cx="1965960" cy="114300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2606040" y="2944368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144,025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2606040" y="352044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Rows Removed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4754880" y="2880360"/>
            <a:ext cx="1965960" cy="114300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4754880" y="2944368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397,884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754880" y="352044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Clean Rows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6903720" y="2880360"/>
            <a:ext cx="1965960" cy="1143000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6903720" y="2944368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libri"/>
              <a:buNone/>
            </a:pPr>
            <a:r>
              <a:rPr b="1" i="0" lang="en-GB" sz="2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4,338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6903720" y="352044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Unique Customers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RFM?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Three behavioral metrics that describe every customer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365760" y="1097280"/>
            <a:ext cx="2651760" cy="35661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E74C3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365760" y="1097280"/>
            <a:ext cx="2651760" cy="82296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365760" y="109728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GB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1463040" y="1097280"/>
            <a:ext cx="1554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Recency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365760" y="201168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C4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8A9BC4"/>
                </a:solidFill>
                <a:latin typeface="Calibri"/>
                <a:ea typeface="Calibri"/>
                <a:cs typeface="Calibri"/>
                <a:sym typeface="Calibri"/>
              </a:rPr>
              <a:t>Your data: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365760" y="224028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93 days avg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475488" y="2743200"/>
            <a:ext cx="24505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Days since last purchase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475488" y="3063240"/>
            <a:ext cx="24505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Lower = more recently active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475488" y="3456432"/>
            <a:ext cx="2450592" cy="18288"/>
          </a:xfrm>
          <a:prstGeom prst="rect">
            <a:avLst/>
          </a:prstGeom>
          <a:solidFill>
            <a:srgbClr val="E74C3C">
              <a:alpha val="50196"/>
            </a:srgbClr>
          </a:solidFill>
          <a:ln cap="flat" cmpd="sng" w="12700">
            <a:solidFill>
              <a:srgbClr val="E74C3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475488" y="3520440"/>
            <a:ext cx="24505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4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8A9BC4"/>
                </a:solidFill>
                <a:latin typeface="Calibri"/>
                <a:ea typeface="Calibri"/>
                <a:cs typeface="Calibri"/>
                <a:sym typeface="Calibri"/>
              </a:rPr>
              <a:t>Customer bought 2 days ago → High 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3246120" y="1097280"/>
            <a:ext cx="2651760" cy="35661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4FC3F7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3246120" y="1097280"/>
            <a:ext cx="2651760" cy="82296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3246120" y="109728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GB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4343400" y="1097280"/>
            <a:ext cx="1554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3246120" y="201168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C4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8A9BC4"/>
                </a:solidFill>
                <a:latin typeface="Calibri"/>
                <a:ea typeface="Calibri"/>
                <a:cs typeface="Calibri"/>
                <a:sym typeface="Calibri"/>
              </a:rPr>
              <a:t>Your data: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3246120" y="224028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4 orders avg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3355848" y="2743200"/>
            <a:ext cx="24505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Total unique orders made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3355848" y="3063240"/>
            <a:ext cx="24505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Higher = more loyal customer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3355848" y="3456432"/>
            <a:ext cx="2450592" cy="18288"/>
          </a:xfrm>
          <a:prstGeom prst="rect">
            <a:avLst/>
          </a:prstGeom>
          <a:solidFill>
            <a:srgbClr val="4FC3F7">
              <a:alpha val="50196"/>
            </a:srgbClr>
          </a:solidFill>
          <a:ln cap="flat" cmpd="sng" w="12700">
            <a:solidFill>
              <a:srgbClr val="4FC3F7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3355848" y="3520440"/>
            <a:ext cx="24505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4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8A9BC4"/>
                </a:solidFill>
                <a:latin typeface="Calibri"/>
                <a:ea typeface="Calibri"/>
                <a:cs typeface="Calibri"/>
                <a:sym typeface="Calibri"/>
              </a:rPr>
              <a:t>Customer made 7 orders → Very loyal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6126480" y="1097280"/>
            <a:ext cx="2651760" cy="35661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2ECC7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6126480" y="1097280"/>
            <a:ext cx="2651760" cy="822960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6126480" y="109728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GB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7223760" y="1097280"/>
            <a:ext cx="1554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Monetary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6126480" y="201168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C4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8A9BC4"/>
                </a:solidFill>
                <a:latin typeface="Calibri"/>
                <a:ea typeface="Calibri"/>
                <a:cs typeface="Calibri"/>
                <a:sym typeface="Calibri"/>
              </a:rPr>
              <a:t>Your data: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6126480" y="224028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2200"/>
              <a:buFont typeface="Calibri"/>
              <a:buNone/>
            </a:pPr>
            <a:r>
              <a:rPr b="1" i="0" lang="en-GB" sz="22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£2,054 avg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6236208" y="2743200"/>
            <a:ext cx="24505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Total money spent (sum)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6236208" y="3063240"/>
            <a:ext cx="24505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Higher = more revenue generated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6236208" y="3456432"/>
            <a:ext cx="2450592" cy="18288"/>
          </a:xfrm>
          <a:prstGeom prst="rect">
            <a:avLst/>
          </a:prstGeom>
          <a:solidFill>
            <a:srgbClr val="2ECC71">
              <a:alpha val="50196"/>
            </a:srgbClr>
          </a:solidFill>
          <a:ln cap="flat" cmpd="sng" w="12700">
            <a:solidFill>
              <a:srgbClr val="2ECC7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6236208" y="3520440"/>
            <a:ext cx="245059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C4"/>
              </a:buClr>
              <a:buSzPts val="900"/>
              <a:buFont typeface="Calibri"/>
              <a:buNone/>
            </a:pPr>
            <a:r>
              <a:rPr b="0" i="1" lang="en-GB" sz="900" u="none" cap="none" strike="noStrike">
                <a:solidFill>
                  <a:srgbClr val="8A9BC4"/>
                </a:solidFill>
                <a:latin typeface="Calibri"/>
                <a:ea typeface="Calibri"/>
                <a:cs typeface="Calibri"/>
                <a:sym typeface="Calibri"/>
              </a:rPr>
              <a:t>Customer spent £3,899 → High value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GB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K-Means Clustering 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4 distinct customer segments discovered from 4,338 customers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228600" y="1051560"/>
            <a:ext cx="2011680" cy="3611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228600" y="1051560"/>
            <a:ext cx="2011680" cy="64008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228600" y="11430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GB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🏆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228600" y="1627632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Champions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02920" y="2029968"/>
            <a:ext cx="1463040" cy="292608"/>
          </a:xfrm>
          <a:prstGeom prst="rect">
            <a:avLst/>
          </a:prstGeom>
          <a:solidFill>
            <a:srgbClr val="F39C12">
              <a:alpha val="18039"/>
            </a:srgbClr>
          </a:solidFill>
          <a:ln cap="flat" cmpd="sng" w="12700">
            <a:solidFill>
              <a:srgbClr val="F39C12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502920" y="2029968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r>
              <a:rPr b="1" lang="en-GB" sz="8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767</a:t>
            </a:r>
            <a:r>
              <a:rPr b="1" i="0" lang="en-GB" sz="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customers  (1</a:t>
            </a:r>
            <a:r>
              <a:rPr b="1" lang="en-GB" sz="8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7.7</a:t>
            </a:r>
            <a:r>
              <a:rPr b="1" i="0" lang="en-GB" sz="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%)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365760" y="24505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Recency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188720" y="24505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17 days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365760" y="29077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1188720" y="29077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7.5 orders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65760" y="33649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Monetary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1188720" y="33649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£3,899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320040" y="3977640"/>
            <a:ext cx="1828800" cy="18288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320040" y="404164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1" lang="en-GB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Best customers. Recent, frequent, high spend.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2423160" y="1051560"/>
            <a:ext cx="2011680" cy="3611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2423160" y="1051560"/>
            <a:ext cx="2011680" cy="64008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2423160" y="11430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GB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❤️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2423160" y="1627632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Loyal Customers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2697480" y="2029968"/>
            <a:ext cx="1463040" cy="292608"/>
          </a:xfrm>
          <a:prstGeom prst="rect">
            <a:avLst/>
          </a:prstGeom>
          <a:solidFill>
            <a:srgbClr val="2ECC71">
              <a:alpha val="18039"/>
            </a:srgbClr>
          </a:solidFill>
          <a:ln cap="flat" cmpd="sng" w="12700">
            <a:solidFill>
              <a:srgbClr val="2ECC7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2697480" y="2029968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~9</a:t>
            </a:r>
            <a:r>
              <a:rPr b="1" lang="en-GB" sz="8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r>
              <a:rPr b="1" i="0" lang="en-GB" sz="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customers  (2</a:t>
            </a:r>
            <a:r>
              <a:rPr b="1" lang="en-GB" sz="8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GB" sz="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%)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2560320" y="24505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Recency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3383280" y="24505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45 days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2560320" y="29077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383280" y="29077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4.0 orders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2560320" y="33649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Monetary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3383280" y="33649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£2,054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514600" y="3977640"/>
            <a:ext cx="1828800" cy="18288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2514600" y="404164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1" lang="en-GB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Consistent buyers with good spend value.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4617720" y="1051560"/>
            <a:ext cx="2011680" cy="3611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4617720" y="1051560"/>
            <a:ext cx="2011680" cy="64008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4617720" y="11430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GB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🆕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4617720" y="1627632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New / Promising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4892040" y="2029968"/>
            <a:ext cx="1463040" cy="292608"/>
          </a:xfrm>
          <a:prstGeom prst="rect">
            <a:avLst/>
          </a:prstGeom>
          <a:solidFill>
            <a:srgbClr val="4FC3F7">
              <a:alpha val="18039"/>
            </a:srgbClr>
          </a:solidFill>
          <a:ln cap="flat" cmpd="sng" w="12700">
            <a:solidFill>
              <a:srgbClr val="4FC3F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4892040" y="2029968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~1,1</a:t>
            </a:r>
            <a:r>
              <a:rPr b="1" lang="en-GB" sz="8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77</a:t>
            </a:r>
            <a:r>
              <a:rPr b="1" i="0" lang="en-GB" sz="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customers  (2</a:t>
            </a:r>
            <a:r>
              <a:rPr b="1" lang="en-GB" sz="8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7.1</a:t>
            </a:r>
            <a:r>
              <a:rPr b="1" i="0" lang="en-GB" sz="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%)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4754880" y="24505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Recency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577840" y="24505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19 days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4754880" y="29077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5577840" y="29077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1.2 orders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754880" y="33649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Monetary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5577840" y="33649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£1,757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709160" y="3977640"/>
            <a:ext cx="1828800" cy="18288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4709160" y="404164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1" lang="en-GB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Bought recently but only once or twice.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6812280" y="1051560"/>
            <a:ext cx="2011680" cy="3611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6812280" y="1051560"/>
            <a:ext cx="2011680" cy="64008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>
            <a:off x="6812280" y="11430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GB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😴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6812280" y="1627632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Dormant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7086600" y="2029968"/>
            <a:ext cx="1463040" cy="292608"/>
          </a:xfrm>
          <a:prstGeom prst="rect">
            <a:avLst/>
          </a:prstGeom>
          <a:solidFill>
            <a:srgbClr val="E74C3C">
              <a:alpha val="18039"/>
            </a:srgbClr>
          </a:solidFill>
          <a:ln cap="flat" cmpd="sng" w="12700">
            <a:solidFill>
              <a:srgbClr val="E74C3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7086600" y="2029968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~1,</a:t>
            </a:r>
            <a:r>
              <a:rPr b="1" lang="en-GB" sz="8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438</a:t>
            </a:r>
            <a:r>
              <a:rPr b="1" i="0" lang="en-GB" sz="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 customers  (</a:t>
            </a:r>
            <a:r>
              <a:rPr b="1" lang="en-GB" sz="8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33.3</a:t>
            </a:r>
            <a:r>
              <a:rPr b="1" i="0" lang="en-GB" sz="8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%)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949440" y="24505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Recency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7772400" y="24505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280 days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6949440" y="29077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7772400" y="29077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1.0 orders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6949440" y="33649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50"/>
              <a:buFont typeface="Calibri"/>
              <a:buNone/>
            </a:pPr>
            <a:r>
              <a:rPr b="0" i="0" lang="en-GB" sz="8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Monetary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7772400" y="3364992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850"/>
              <a:buFont typeface="Calibri"/>
              <a:buNone/>
            </a:pPr>
            <a:r>
              <a:rPr b="1" i="0" lang="en-GB" sz="85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£740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6903720" y="3977640"/>
            <a:ext cx="1828800" cy="18288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0"/>
          <p:cNvSpPr/>
          <p:nvPr/>
        </p:nvSpPr>
        <p:spPr>
          <a:xfrm>
            <a:off x="6903720" y="404164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Calibri"/>
              <a:buNone/>
            </a:pPr>
            <a:r>
              <a:rPr b="0" i="1" lang="en-GB" sz="8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Haven't bought in months. Need win-back.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GB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Business Recommendations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Targeted actions for each customer segment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274320" y="1051560"/>
            <a:ext cx="4160520" cy="1719072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274320" y="1051560"/>
            <a:ext cx="64008" cy="1719072"/>
          </a:xfrm>
          <a:prstGeom prst="rect">
            <a:avLst/>
          </a:prstGeom>
          <a:solidFill>
            <a:srgbClr val="F39C12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438912" y="11430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🏆  Champions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438912" y="1508760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VIP loyalty program &amp; early access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438912" y="1892808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Personal thank-you from the brand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438912" y="2276856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Referral program — they attract similar customers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4709160" y="1051560"/>
            <a:ext cx="4160520" cy="1719072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4709160" y="1051560"/>
            <a:ext cx="64008" cy="1719072"/>
          </a:xfrm>
          <a:prstGeom prst="rect">
            <a:avLst/>
          </a:prstGeom>
          <a:solidFill>
            <a:srgbClr val="2ECC71"/>
          </a:solidFill>
          <a:ln cap="flat" cmpd="sng" w="12700">
            <a:solidFill>
              <a:srgbClr val="2ECC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4873752" y="11430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❤️  Loyal Customers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4873752" y="1508760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Personalized upsell &amp; cross-sell offers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4873752" y="1892808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'Spend £X more → unlock VIP' nudge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4873752" y="2276856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Bundle deals on products they already buy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274320" y="2971800"/>
            <a:ext cx="4160520" cy="1719072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274320" y="2971800"/>
            <a:ext cx="64008" cy="1719072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438912" y="30632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🆕  New / Promising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438912" y="3429000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Welcome email series (3–5 emails)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438912" y="3813048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10% discount on second purchase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438912" y="4197096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Showcase bestselling products immediately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4709160" y="2971800"/>
            <a:ext cx="4160520" cy="1719072"/>
          </a:xfrm>
          <a:prstGeom prst="rect">
            <a:avLst/>
          </a:prstGeom>
          <a:solidFill>
            <a:srgbClr val="F4F6F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4709160" y="2971800"/>
            <a:ext cx="64008" cy="1719072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"/>
          <p:cNvSpPr/>
          <p:nvPr/>
        </p:nvSpPr>
        <p:spPr>
          <a:xfrm>
            <a:off x="4873752" y="306324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😴  Dormant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4873752" y="3429000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'We miss you' email with 20% discount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4873752" y="3813048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48-hour urgency deadline on offer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4873752" y="4197096"/>
            <a:ext cx="3886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→  </a:t>
            </a: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High-value dormant → personal outreach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GB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 &amp; Impact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What the ML model discovered from your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274320" y="1097280"/>
            <a:ext cx="1965960" cy="137160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E74C3C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274320" y="114300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3000"/>
              <a:buFont typeface="Calibri"/>
              <a:buNone/>
            </a:pPr>
            <a:r>
              <a:rPr b="1" lang="en-GB" sz="3000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33.1</a:t>
            </a:r>
            <a:r>
              <a:rPr b="1" i="0" lang="en-GB" sz="3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274320" y="178308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Customers Dormant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274320" y="2084832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C4"/>
              </a:buClr>
              <a:buSzPts val="850"/>
              <a:buFont typeface="Calibri"/>
              <a:buNone/>
            </a:pPr>
            <a:r>
              <a:rPr b="0" i="1" lang="en-GB" sz="850" u="none" cap="none" strike="noStrike">
                <a:solidFill>
                  <a:srgbClr val="8A9BC4"/>
                </a:solidFill>
                <a:latin typeface="Calibri"/>
                <a:ea typeface="Calibri"/>
                <a:cs typeface="Calibri"/>
                <a:sym typeface="Calibri"/>
              </a:rPr>
              <a:t>Biggest win-back opportunity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2450592" y="1097280"/>
            <a:ext cx="1965960" cy="137160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2ECC7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2"/>
          <p:cNvSpPr/>
          <p:nvPr/>
        </p:nvSpPr>
        <p:spPr>
          <a:xfrm>
            <a:off x="2450592" y="114300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3000"/>
              <a:buFont typeface="Calibri"/>
              <a:buNone/>
            </a:pPr>
            <a:r>
              <a:rPr b="1" i="0" lang="en-GB" sz="3000" u="none" cap="none" strike="noStrike">
                <a:solidFill>
                  <a:srgbClr val="2ECC71"/>
                </a:solidFill>
                <a:latin typeface="Calibri"/>
                <a:ea typeface="Calibri"/>
                <a:cs typeface="Calibri"/>
                <a:sym typeface="Calibri"/>
              </a:rPr>
              <a:t>42%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2450592" y="178308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Champions + Loyal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2450592" y="2084832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C4"/>
              </a:buClr>
              <a:buSzPts val="850"/>
              <a:buFont typeface="Calibri"/>
              <a:buNone/>
            </a:pPr>
            <a:r>
              <a:rPr b="0" i="1" lang="en-GB" sz="850" u="none" cap="none" strike="noStrike">
                <a:solidFill>
                  <a:srgbClr val="8A9BC4"/>
                </a:solidFill>
                <a:latin typeface="Calibri"/>
                <a:ea typeface="Calibri"/>
                <a:cs typeface="Calibri"/>
                <a:sym typeface="Calibri"/>
              </a:rPr>
              <a:t>Protect these at all costs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4626864" y="1097280"/>
            <a:ext cx="1965960" cy="137160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4FC3F7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4626864" y="114300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000"/>
              <a:buFont typeface="Calibri"/>
              <a:buNone/>
            </a:pPr>
            <a:r>
              <a:rPr b="1" i="0" lang="en-GB" sz="3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0.45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4626864" y="178308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Silhouette Score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4626864" y="2084832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C4"/>
              </a:buClr>
              <a:buSzPts val="850"/>
              <a:buFont typeface="Calibri"/>
              <a:buNone/>
            </a:pPr>
            <a:r>
              <a:rPr b="0" i="1" lang="en-GB" sz="850" u="none" cap="none" strike="noStrike">
                <a:solidFill>
                  <a:srgbClr val="8A9BC4"/>
                </a:solidFill>
                <a:latin typeface="Calibri"/>
                <a:ea typeface="Calibri"/>
                <a:cs typeface="Calibri"/>
                <a:sym typeface="Calibri"/>
              </a:rPr>
              <a:t>Strong cluster separation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6803136" y="1097280"/>
            <a:ext cx="1965960" cy="137160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39C1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2"/>
          <p:cNvSpPr/>
          <p:nvPr/>
        </p:nvSpPr>
        <p:spPr>
          <a:xfrm>
            <a:off x="6803136" y="114300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3000"/>
              <a:buFont typeface="Calibri"/>
              <a:buNone/>
            </a:pPr>
            <a:r>
              <a:rPr b="1" i="0" lang="en-GB" sz="3000" u="none" cap="none" strike="noStrike">
                <a:solidFill>
                  <a:srgbClr val="F39C12"/>
                </a:solidFill>
                <a:latin typeface="Calibri"/>
                <a:ea typeface="Calibri"/>
                <a:cs typeface="Calibri"/>
                <a:sym typeface="Calibri"/>
              </a:rPr>
              <a:t>£2,054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6803136" y="1783080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GB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 Customer Value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6803136" y="2084832"/>
            <a:ext cx="1965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C4"/>
              </a:buClr>
              <a:buSzPts val="850"/>
              <a:buFont typeface="Calibri"/>
              <a:buNone/>
            </a:pPr>
            <a:r>
              <a:rPr b="0" i="1" lang="en-GB" sz="850" u="none" cap="none" strike="noStrike">
                <a:solidFill>
                  <a:srgbClr val="8A9BC4"/>
                </a:solidFill>
                <a:latin typeface="Calibri"/>
                <a:ea typeface="Calibri"/>
                <a:cs typeface="Calibri"/>
                <a:sym typeface="Calibri"/>
              </a:rPr>
              <a:t>Champions avg £3,899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274320" y="2697480"/>
            <a:ext cx="8595360" cy="2011680"/>
          </a:xfrm>
          <a:prstGeom prst="rect">
            <a:avLst/>
          </a:prstGeom>
          <a:solidFill>
            <a:srgbClr val="FFFFFF">
              <a:alpha val="7058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502920" y="278892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Calibri"/>
              <a:buNone/>
            </a:pPr>
            <a:r>
              <a:rPr b="1" i="0" lang="en-GB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Key ML Findings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502920" y="315468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◆  </a:t>
            </a: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Silhouette Score of 0.45 (k=2) confirmed strong natural cluster separation in the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502920" y="353872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◆  </a:t>
            </a: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k=4 was chosen for business usefulness — giving 4 actionable segments vs 2 broad groups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502920" y="3922776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◆  </a:t>
            </a: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58% of customers haven't purchased in over 90 days — urgent re-engagement campaign needed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502920" y="4306824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◆  </a:t>
            </a:r>
            <a:r>
              <a:rPr b="0" i="0" lang="en-GB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10% of customers (Champions) generate disproportionately high revenue — protect them first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3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libri"/>
              <a:buNone/>
            </a:pPr>
            <a:r>
              <a:rPr b="1" i="0" lang="en-GB" sz="2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Tech Stack &amp; Methods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Tools and techniques used in this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3"/>
          <p:cNvSpPr/>
          <p:nvPr/>
        </p:nvSpPr>
        <p:spPr>
          <a:xfrm>
            <a:off x="274320" y="1051560"/>
            <a:ext cx="269748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3"/>
          <p:cNvSpPr/>
          <p:nvPr/>
        </p:nvSpPr>
        <p:spPr>
          <a:xfrm>
            <a:off x="274320" y="1051560"/>
            <a:ext cx="2697480" cy="7315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3"/>
          <p:cNvSpPr/>
          <p:nvPr/>
        </p:nvSpPr>
        <p:spPr>
          <a:xfrm>
            <a:off x="274320" y="11887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274320" y="160020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Core Language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274320" y="187452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Data processing &amp; ML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3182112" y="1051560"/>
            <a:ext cx="269748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3"/>
          <p:cNvSpPr/>
          <p:nvPr/>
        </p:nvSpPr>
        <p:spPr>
          <a:xfrm>
            <a:off x="3182112" y="1051560"/>
            <a:ext cx="2697480" cy="73152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3"/>
          <p:cNvSpPr/>
          <p:nvPr/>
        </p:nvSpPr>
        <p:spPr>
          <a:xfrm>
            <a:off x="3182112" y="11887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3182112" y="160020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 Manipulation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3182112" y="187452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Load, clean, transform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6089904" y="1051560"/>
            <a:ext cx="269748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3"/>
          <p:cNvSpPr/>
          <p:nvPr/>
        </p:nvSpPr>
        <p:spPr>
          <a:xfrm>
            <a:off x="6089904" y="1051560"/>
            <a:ext cx="2697480" cy="73152"/>
          </a:xfrm>
          <a:prstGeom prst="rect">
            <a:avLst/>
          </a:prstGeom>
          <a:solidFill>
            <a:srgbClr val="0277BD"/>
          </a:solidFill>
          <a:ln cap="flat" cmpd="sng" w="12700">
            <a:solidFill>
              <a:srgbClr val="027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3"/>
          <p:cNvSpPr/>
          <p:nvPr/>
        </p:nvSpPr>
        <p:spPr>
          <a:xfrm>
            <a:off x="6089904" y="118872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77BD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0277BD"/>
                </a:solidFill>
                <a:latin typeface="Calibri"/>
                <a:ea typeface="Calibri"/>
                <a:cs typeface="Calibri"/>
                <a:sym typeface="Calibri"/>
              </a:rPr>
              <a:t>numpy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6089904" y="160020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Numerical Computing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6089904" y="187452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Log transformation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274320" y="2743200"/>
            <a:ext cx="269748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274320" y="2743200"/>
            <a:ext cx="2697480" cy="73152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3"/>
          <p:cNvSpPr/>
          <p:nvPr/>
        </p:nvSpPr>
        <p:spPr>
          <a:xfrm>
            <a:off x="274320" y="288036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0288D1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274320" y="329184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274320" y="356616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KMeans, MinMaxScaler, Silhouette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3182112" y="2743200"/>
            <a:ext cx="269748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3"/>
          <p:cNvSpPr/>
          <p:nvPr/>
        </p:nvSpPr>
        <p:spPr>
          <a:xfrm>
            <a:off x="3182112" y="2743200"/>
            <a:ext cx="2697480" cy="7315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3"/>
          <p:cNvSpPr/>
          <p:nvPr/>
        </p:nvSpPr>
        <p:spPr>
          <a:xfrm>
            <a:off x="3182112" y="288036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3182112" y="329184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3182112" y="356616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Charts &amp; elbow curve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6089904" y="2743200"/>
            <a:ext cx="2697480" cy="14630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3"/>
          <p:cNvSpPr/>
          <p:nvPr/>
        </p:nvSpPr>
        <p:spPr>
          <a:xfrm>
            <a:off x="6089904" y="2743200"/>
            <a:ext cx="2697480" cy="73152"/>
          </a:xfrm>
          <a:prstGeom prst="rect">
            <a:avLst/>
          </a:prstGeom>
          <a:solidFill>
            <a:srgbClr val="0097A7"/>
          </a:solidFill>
          <a:ln cap="flat" cmpd="sng" w="12700">
            <a:solidFill>
              <a:srgbClr val="009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3"/>
          <p:cNvSpPr/>
          <p:nvPr/>
        </p:nvSpPr>
        <p:spPr>
          <a:xfrm>
            <a:off x="6089904" y="2880360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800"/>
              <a:buFont typeface="Calibri"/>
              <a:buNone/>
            </a:pPr>
            <a:r>
              <a:rPr b="1" i="0" lang="en-GB" sz="1800" u="none" cap="none" strike="noStrik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seaborn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6089904" y="329184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GB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Statistical Plots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6089904" y="356616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b="0" i="0" lang="en-GB" sz="95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Heatmaps &amp; distributions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274320" y="4526280"/>
            <a:ext cx="8595360" cy="411480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3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000"/>
              <a:buFont typeface="Calibri"/>
              <a:buNone/>
            </a:pPr>
            <a:r>
              <a:rPr b="1" i="0" lang="en-GB" sz="1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ML Method:  Unsupervised Learning  →  K-Means Clustering  →  RFM Feature Engineering  →  Silhouette Evaluation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4"/>
          <p:cNvSpPr/>
          <p:nvPr/>
        </p:nvSpPr>
        <p:spPr>
          <a:xfrm>
            <a:off x="6217920" y="-457200"/>
            <a:ext cx="3657600" cy="3657600"/>
          </a:xfrm>
          <a:prstGeom prst="ellipse">
            <a:avLst/>
          </a:prstGeom>
          <a:solidFill>
            <a:srgbClr val="4FC3F7">
              <a:alpha val="7843"/>
            </a:srgbClr>
          </a:solidFill>
          <a:ln cap="flat" cmpd="sng" w="12700">
            <a:solidFill>
              <a:srgbClr val="4FC3F7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4"/>
          <p:cNvSpPr/>
          <p:nvPr/>
        </p:nvSpPr>
        <p:spPr>
          <a:xfrm>
            <a:off x="548640" y="640080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GB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Complete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548640" y="1207008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GB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End-to-end ML project — from raw data to business insight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457200" y="1737360"/>
            <a:ext cx="54864" cy="530352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4"/>
          <p:cNvSpPr/>
          <p:nvPr/>
        </p:nvSpPr>
        <p:spPr>
          <a:xfrm>
            <a:off x="685800" y="175564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data → Clean insights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685800" y="199339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541,909 rows cleaned and transformed into 4,338 customer profiles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457200" y="2487168"/>
            <a:ext cx="54864" cy="530352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4"/>
          <p:cNvSpPr/>
          <p:nvPr/>
        </p:nvSpPr>
        <p:spPr>
          <a:xfrm>
            <a:off x="685800" y="250545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RFM + ML = Powerful segmentation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685800" y="27432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Three behavioral metrics + K-Means discovered 4 actionable customer groups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457200" y="3236976"/>
            <a:ext cx="54864" cy="530352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4"/>
          <p:cNvSpPr/>
          <p:nvPr/>
        </p:nvSpPr>
        <p:spPr>
          <a:xfrm>
            <a:off x="685800" y="325526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value delivered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4"/>
          <p:cNvSpPr/>
          <p:nvPr/>
        </p:nvSpPr>
        <p:spPr>
          <a:xfrm>
            <a:off x="685800" y="349300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Each segment has a clear strategy: reward, upsell, nurture, or win back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4"/>
          <p:cNvSpPr/>
          <p:nvPr/>
        </p:nvSpPr>
        <p:spPr>
          <a:xfrm>
            <a:off x="457200" y="3986784"/>
            <a:ext cx="54864" cy="530352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4"/>
          <p:cNvSpPr/>
          <p:nvPr/>
        </p:nvSpPr>
        <p:spPr>
          <a:xfrm>
            <a:off x="685800" y="400507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GB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Scalable &amp; repeatable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4"/>
          <p:cNvSpPr/>
          <p:nvPr/>
        </p:nvSpPr>
        <p:spPr>
          <a:xfrm>
            <a:off x="685800" y="424281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GB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Pipeline can be re-run monthly as new transaction data comes 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C4"/>
              </a:buClr>
              <a:buSzPts val="900"/>
              <a:buFont typeface="Calibri"/>
              <a:buNone/>
            </a:pPr>
            <a:r>
              <a:rPr b="0" i="0" lang="en-GB" sz="900" u="none" cap="none" strike="noStrike">
                <a:solidFill>
                  <a:srgbClr val="8A9BC4"/>
                </a:solidFill>
                <a:latin typeface="Calibri"/>
                <a:ea typeface="Calibri"/>
                <a:cs typeface="Calibri"/>
                <a:sym typeface="Calibri"/>
              </a:rPr>
              <a:t>Built with Python  •  scikit-learn  •  pandas  •  UCI Online Retail Dataset  •  K-Means Clustering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